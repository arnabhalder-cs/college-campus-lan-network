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B HALDER" userId="0c2d5a5977255290" providerId="LiveId" clId="{7E8F496F-74AF-4830-A763-E59A1AE6A3DD}"/>
    <pc:docChg chg="delSld modSld">
      <pc:chgData name="ARNAB HALDER" userId="0c2d5a5977255290" providerId="LiveId" clId="{7E8F496F-74AF-4830-A763-E59A1AE6A3DD}" dt="2026-09-10T11:30:36.534" v="45" actId="20577"/>
      <pc:docMkLst>
        <pc:docMk/>
      </pc:docMkLst>
      <pc:sldChg chg="modSp mod">
        <pc:chgData name="ARNAB HALDER" userId="0c2d5a5977255290" providerId="LiveId" clId="{7E8F496F-74AF-4830-A763-E59A1AE6A3DD}" dt="2026-09-10T11:30:36.534" v="45" actId="20577"/>
        <pc:sldMkLst>
          <pc:docMk/>
          <pc:sldMk cId="0" sldId="256"/>
        </pc:sldMkLst>
        <pc:spChg chg="mod">
          <ac:chgData name="ARNAB HALDER" userId="0c2d5a5977255290" providerId="LiveId" clId="{7E8F496F-74AF-4830-A763-E59A1AE6A3DD}" dt="2026-09-10T11:09:53.848" v="1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RNAB HALDER" userId="0c2d5a5977255290" providerId="LiveId" clId="{7E8F496F-74AF-4830-A763-E59A1AE6A3DD}" dt="2026-09-10T11:10:08.340" v="22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ARNAB HALDER" userId="0c2d5a5977255290" providerId="LiveId" clId="{7E8F496F-74AF-4830-A763-E59A1AE6A3DD}" dt="2026-09-10T11:30:36.534" v="45" actId="20577"/>
          <ac:spMkLst>
            <pc:docMk/>
            <pc:sldMk cId="0" sldId="256"/>
            <ac:spMk id="12" creationId="{00000000-0000-0000-0000-000000000000}"/>
          </ac:spMkLst>
        </pc:spChg>
        <pc:picChg chg="mod">
          <ac:chgData name="ARNAB HALDER" userId="0c2d5a5977255290" providerId="LiveId" clId="{7E8F496F-74AF-4830-A763-E59A1AE6A3DD}" dt="2026-09-10T11:09:49.502" v="18" actId="1076"/>
          <ac:picMkLst>
            <pc:docMk/>
            <pc:sldMk cId="0" sldId="256"/>
            <ac:picMk id="3" creationId="{00000000-0000-0000-0000-000000000000}"/>
          </ac:picMkLst>
        </pc:picChg>
      </pc:sldChg>
      <pc:sldChg chg="modSp mod">
        <pc:chgData name="ARNAB HALDER" userId="0c2d5a5977255290" providerId="LiveId" clId="{7E8F496F-74AF-4830-A763-E59A1AE6A3DD}" dt="2026-09-10T11:03:34.663" v="12" actId="20577"/>
        <pc:sldMkLst>
          <pc:docMk/>
          <pc:sldMk cId="0" sldId="257"/>
        </pc:sldMkLst>
        <pc:spChg chg="mod">
          <ac:chgData name="ARNAB HALDER" userId="0c2d5a5977255290" providerId="LiveId" clId="{7E8F496F-74AF-4830-A763-E59A1AE6A3DD}" dt="2026-09-10T11:03:34.663" v="12" actId="20577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ARNAB HALDER" userId="0c2d5a5977255290" providerId="LiveId" clId="{7E8F496F-74AF-4830-A763-E59A1AE6A3DD}" dt="2026-09-10T11:09:38.452" v="17" actId="14100"/>
        <pc:sldMkLst>
          <pc:docMk/>
          <pc:sldMk cId="0" sldId="258"/>
        </pc:sldMkLst>
        <pc:spChg chg="mod">
          <ac:chgData name="ARNAB HALDER" userId="0c2d5a5977255290" providerId="LiveId" clId="{7E8F496F-74AF-4830-A763-E59A1AE6A3DD}" dt="2026-09-10T11:09:38.452" v="17" actId="14100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ARNAB HALDER" userId="0c2d5a5977255290" providerId="LiveId" clId="{7E8F496F-74AF-4830-A763-E59A1AE6A3DD}" dt="2026-09-10T11:10:24.018" v="23" actId="14100"/>
        <pc:sldMkLst>
          <pc:docMk/>
          <pc:sldMk cId="0" sldId="259"/>
        </pc:sldMkLst>
        <pc:spChg chg="mod">
          <ac:chgData name="ARNAB HALDER" userId="0c2d5a5977255290" providerId="LiveId" clId="{7E8F496F-74AF-4830-A763-E59A1AE6A3DD}" dt="2026-09-10T11:10:24.018" v="23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ARNAB HALDER" userId="0c2d5a5977255290" providerId="LiveId" clId="{7E8F496F-74AF-4830-A763-E59A1AE6A3DD}" dt="2026-09-09T11:00:53.559" v="4" actId="207"/>
          <ac:spMkLst>
            <pc:docMk/>
            <pc:sldMk cId="0" sldId="259"/>
            <ac:spMk id="9" creationId="{00000000-0000-0000-0000-000000000000}"/>
          </ac:spMkLst>
        </pc:spChg>
      </pc:sldChg>
      <pc:sldChg chg="addSp delSp modSp mod">
        <pc:chgData name="ARNAB HALDER" userId="0c2d5a5977255290" providerId="LiveId" clId="{7E8F496F-74AF-4830-A763-E59A1AE6A3DD}" dt="2026-09-10T11:10:34.771" v="24" actId="14100"/>
        <pc:sldMkLst>
          <pc:docMk/>
          <pc:sldMk cId="0" sldId="260"/>
        </pc:sldMkLst>
        <pc:spChg chg="mod">
          <ac:chgData name="ARNAB HALDER" userId="0c2d5a5977255290" providerId="LiveId" clId="{7E8F496F-74AF-4830-A763-E59A1AE6A3DD}" dt="2026-09-09T11:01:16.720" v="8" actId="10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ARNAB HALDER" userId="0c2d5a5977255290" providerId="LiveId" clId="{7E8F496F-74AF-4830-A763-E59A1AE6A3DD}" dt="2026-09-10T11:10:34.771" v="24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ARNAB HALDER" userId="0c2d5a5977255290" providerId="LiveId" clId="{7E8F496F-74AF-4830-A763-E59A1AE6A3DD}" dt="2026-09-09T11:01:10.832" v="6" actId="1038"/>
          <ac:spMkLst>
            <pc:docMk/>
            <pc:sldMk cId="0" sldId="260"/>
            <ac:spMk id="8" creationId="{00000000-0000-0000-0000-000000000000}"/>
          </ac:spMkLst>
        </pc:spChg>
        <pc:spChg chg="mod">
          <ac:chgData name="ARNAB HALDER" userId="0c2d5a5977255290" providerId="LiveId" clId="{7E8F496F-74AF-4830-A763-E59A1AE6A3DD}" dt="2026-09-09T11:01:07.997" v="5" actId="207"/>
          <ac:spMkLst>
            <pc:docMk/>
            <pc:sldMk cId="0" sldId="260"/>
            <ac:spMk id="9" creationId="{00000000-0000-0000-0000-000000000000}"/>
          </ac:spMkLst>
        </pc:spChg>
        <pc:spChg chg="add del mod">
          <ac:chgData name="ARNAB HALDER" userId="0c2d5a5977255290" providerId="LiveId" clId="{7E8F496F-74AF-4830-A763-E59A1AE6A3DD}" dt="2026-09-09T11:01:18.468" v="10"/>
          <ac:spMkLst>
            <pc:docMk/>
            <pc:sldMk cId="0" sldId="260"/>
            <ac:spMk id="10" creationId="{64E5F0C0-830F-E64E-01FE-36B6CA59A3EC}"/>
          </ac:spMkLst>
        </pc:spChg>
      </pc:sldChg>
      <pc:sldChg chg="del">
        <pc:chgData name="ARNAB HALDER" userId="0c2d5a5977255290" providerId="LiveId" clId="{7E8F496F-74AF-4830-A763-E59A1AE6A3DD}" dt="2026-09-10T11:06:24.243" v="13" actId="2696"/>
        <pc:sldMkLst>
          <pc:docMk/>
          <pc:sldMk cId="0" sldId="263"/>
        </pc:sldMkLst>
      </pc:sldChg>
      <pc:sldChg chg="modSp mod">
        <pc:chgData name="ARNAB HALDER" userId="0c2d5a5977255290" providerId="LiveId" clId="{7E8F496F-74AF-4830-A763-E59A1AE6A3DD}" dt="2026-09-10T11:30:15.123" v="25" actId="20577"/>
        <pc:sldMkLst>
          <pc:docMk/>
          <pc:sldMk cId="0" sldId="264"/>
        </pc:sldMkLst>
        <pc:spChg chg="mod">
          <ac:chgData name="ARNAB HALDER" userId="0c2d5a5977255290" providerId="LiveId" clId="{7E8F496F-74AF-4830-A763-E59A1AE6A3DD}" dt="2026-09-10T11:30:15.123" v="25" actId="20577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9144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ampus_network_3d_17886826296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894080"/>
            <a:ext cx="6035040" cy="336839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0" y="731520"/>
            <a:ext cx="6217920" cy="3840480"/>
          </a:xfrm>
          <a:prstGeom prst="roundRect">
            <a:avLst/>
          </a:prstGeom>
          <a:noFill/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rPr dirty="0"/>
              <a:t>ENTERPRISE NETWORK SIMULATION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rPr dirty="0"/>
              <a:t>COLLEGE CAMPUS</a:t>
            </a:r>
            <a:br>
              <a:rPr dirty="0"/>
            </a:br>
            <a:r>
              <a:rPr dirty="0"/>
              <a:t>LAN NETWORK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rPr dirty="0"/>
              <a:t>Automated Dynamic Addressing (DHCP) &amp; Mesh Backbone Routing (OSPF Area 0) across Multi-Department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417320" cy="1005840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3</a:t>
            </a:r>
          </a:p>
          <a:p>
            <a:pPr algn="ctr">
              <a:spcBef>
                <a:spcPts val="200"/>
              </a:spcBef>
              <a:defRPr sz="800" b="1">
                <a:solidFill>
                  <a:srgbClr val="94A3B8"/>
                </a:solidFill>
              </a:defRPr>
            </a:pPr>
            <a:r>
              <a:t>DEPARTMENTS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114800"/>
            <a:ext cx="1417320" cy="1005840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416052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18</a:t>
            </a:r>
          </a:p>
          <a:p>
            <a:pPr algn="ctr">
              <a:spcBef>
                <a:spcPts val="200"/>
              </a:spcBef>
              <a:defRPr sz="800" b="1">
                <a:solidFill>
                  <a:srgbClr val="94A3B8"/>
                </a:solidFill>
              </a:defRPr>
            </a:pPr>
            <a:r>
              <a:t>END WORKSTATIONS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114800"/>
            <a:ext cx="1417320" cy="1005840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416052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100%</a:t>
            </a:r>
          </a:p>
          <a:p>
            <a:pPr algn="ctr">
              <a:spcBef>
                <a:spcPts val="200"/>
              </a:spcBef>
              <a:defRPr sz="800" b="1">
                <a:solidFill>
                  <a:srgbClr val="94A3B8"/>
                </a:solidFill>
              </a:defRPr>
            </a:pPr>
            <a:r>
              <a:t>FAILOVER 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382989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rPr dirty="0"/>
              <a:t>Author: </a:t>
            </a:r>
            <a:r>
              <a:rPr lang="en-US" dirty="0"/>
              <a:t>ARNAB RAJU HALDER</a:t>
            </a:r>
            <a:r>
              <a:rPr dirty="0"/>
              <a:t> | Powered by Cisco Packet Tracer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MODULAR CAMPUS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Three Dedicated Campus Department Zones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29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880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ZONE 01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Management Dept.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Executive Core &amp; Decision Hub</a:t>
            </a:r>
          </a:p>
          <a:p>
            <a:pPr>
              <a:spcBef>
                <a:spcPts val="1400"/>
              </a:spcBef>
              <a:defRPr sz="1200" b="1">
                <a:solidFill>
                  <a:srgbClr val="34D399"/>
                </a:solidFill>
              </a:defRPr>
            </a:pPr>
            <a:r>
              <a:t>Subnet: 192.168.10.0/24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6 Client PCs wired to Layer-2 Switch. Direct high-priority link to Core Router 1.</a:t>
            </a:r>
          </a:p>
          <a:p>
            <a:pPr>
              <a:spcBef>
                <a:spcPts val="2000"/>
              </a:spcBef>
              <a:defRPr sz="1000">
                <a:solidFill>
                  <a:srgbClr val="94A3B8"/>
                </a:solidFill>
              </a:defRPr>
            </a:pPr>
            <a:r>
              <a:t>✓ Isolated Broadcast Domain</a:t>
            </a:r>
            <a:br/>
            <a:r>
              <a:t>✓ Automated DHCP Leasing</a:t>
            </a:r>
            <a:br/>
            <a:r>
              <a:t>✓ Full OSPF Routing Reach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45920"/>
            <a:ext cx="342900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645920"/>
            <a:ext cx="34290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2011680"/>
            <a:ext cx="2880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ZONE 02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Office &amp; Accounts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Administrative &amp; Records Hub</a:t>
            </a:r>
          </a:p>
          <a:p>
            <a:pPr>
              <a:spcBef>
                <a:spcPts val="1400"/>
              </a:spcBef>
              <a:defRPr sz="1200" b="1">
                <a:solidFill>
                  <a:srgbClr val="34D399"/>
                </a:solidFill>
              </a:defRPr>
            </a:pPr>
            <a:r>
              <a:t>Subnet: 192.168.20.0/24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6 Client PCs handling student records and bursar billing. Connected via Switch 2 to Router 2.</a:t>
            </a:r>
          </a:p>
          <a:p>
            <a:pPr>
              <a:spcBef>
                <a:spcPts val="2000"/>
              </a:spcBef>
              <a:defRPr sz="1000">
                <a:solidFill>
                  <a:srgbClr val="94A3B8"/>
                </a:solidFill>
              </a:defRPr>
            </a:pPr>
            <a:r>
              <a:t>✓ Isolated Broadcast Domain</a:t>
            </a:r>
            <a:br/>
            <a:r>
              <a:t>✓ Automated DHCP Leasing</a:t>
            </a:r>
            <a:br/>
            <a:r>
              <a:t>✓ Full OSPF Routing Reach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645920"/>
            <a:ext cx="342900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10144" y="1645920"/>
            <a:ext cx="3429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4464" y="2011680"/>
            <a:ext cx="288036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 dirty="0"/>
              <a:t>ZONE 03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rPr dirty="0"/>
              <a:t>Teaching Faculty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Academic Research &amp; Faculty Desks</a:t>
            </a:r>
          </a:p>
          <a:p>
            <a:pPr>
              <a:spcBef>
                <a:spcPts val="1400"/>
              </a:spcBef>
              <a:defRPr sz="1200" b="1">
                <a:solidFill>
                  <a:srgbClr val="34D399"/>
                </a:solidFill>
              </a:defRPr>
            </a:pPr>
            <a:r>
              <a:rPr dirty="0"/>
              <a:t>Subnet: 192.168.30.0/24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rPr dirty="0"/>
              <a:t>6 Faculty PCs for syllabus &amp; academic systems. Conn</a:t>
            </a:r>
            <a:r>
              <a:rPr lang="en-US" dirty="0"/>
              <a:t>  </a:t>
            </a:r>
            <a:r>
              <a:rPr dirty="0" err="1"/>
              <a:t>ected</a:t>
            </a:r>
            <a:r>
              <a:rPr dirty="0"/>
              <a:t> via Switch 3 to Router 3.</a:t>
            </a:r>
          </a:p>
          <a:p>
            <a:pPr>
              <a:spcBef>
                <a:spcPts val="2000"/>
              </a:spcBef>
              <a:defRPr sz="1000">
                <a:solidFill>
                  <a:srgbClr val="94A3B8"/>
                </a:solidFill>
              </a:defRPr>
            </a:pPr>
            <a:r>
              <a:rPr dirty="0"/>
              <a:t>✓ Isolated Broadcast Domain</a:t>
            </a:r>
            <a:br>
              <a:rPr dirty="0"/>
            </a:br>
            <a:r>
              <a:rPr dirty="0"/>
              <a:t>✓ Automated DHCP Leasing</a:t>
            </a:r>
            <a:br>
              <a:rPr dirty="0"/>
            </a:br>
            <a:r>
              <a:rPr dirty="0"/>
              <a:t>✓ Full OSPF Routing Reach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NETWORK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Cisco Packet Tracer Physical Simulation Topology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33085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9120" y="1243584"/>
            <a:ext cx="7193280" cy="4157472"/>
          </a:xfrm>
          <a:prstGeom prst="rect">
            <a:avLst/>
          </a:prstGeom>
          <a:noFill/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504895" cy="1051560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737360"/>
            <a:ext cx="3139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Core Routers (3 Units)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Form a resilient mesh core. Each router acts as the default gateway for its local department.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816352"/>
            <a:ext cx="3504895" cy="1051560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2907792"/>
            <a:ext cx="3139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Access Switches (3 Units)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Catalyst 2960 24-port switches distribute wired ethernet to local endpoints with 0 packet loss.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986784"/>
            <a:ext cx="3504895" cy="1051560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4078224"/>
            <a:ext cx="3139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Campus Main Server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Centralized server hosting DHCP scopes for all subnets, preventing IP conflicts across 18 PCs.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5157216"/>
            <a:ext cx="3504895" cy="1051560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5248655"/>
            <a:ext cx="3139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Serial &amp; FastEthernet Links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Fast point-to-point connections with dedicated /30 subnets for zero address waste.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ZERO-TOUCH HOST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Automated IP Provisioning with Central DHCP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hcp_flow_3d_17886826648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6632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645920"/>
            <a:ext cx="5852160" cy="3458464"/>
          </a:xfrm>
          <a:prstGeom prst="rect">
            <a:avLst/>
          </a:prstGeom>
          <a:noFill/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0" y="1645920"/>
            <a:ext cx="4602175" cy="4663440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41747" y="2054264"/>
            <a:ext cx="4053535" cy="2749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rPr dirty="0"/>
              <a:t>THE 4-STEP DORA PROCESS</a:t>
            </a:r>
          </a:p>
          <a:p>
            <a:pPr>
              <a:spcBef>
                <a:spcPts val="300"/>
              </a:spcBef>
              <a:defRPr sz="1000">
                <a:solidFill>
                  <a:srgbClr val="FFFFFF"/>
                </a:solidFill>
              </a:defRPr>
            </a:pPr>
            <a:r>
              <a:rPr dirty="0"/>
              <a:t>1. Discover: Client broadcasts 'Who is the DHCP server?'</a:t>
            </a:r>
          </a:p>
          <a:p>
            <a:pPr>
              <a:spcBef>
                <a:spcPts val="300"/>
              </a:spcBef>
              <a:defRPr sz="1000">
                <a:solidFill>
                  <a:srgbClr val="FFFFFF"/>
                </a:solidFill>
              </a:defRPr>
            </a:pPr>
            <a:r>
              <a:rPr dirty="0"/>
              <a:t>2. Offer: Central server reserves IP &amp; offers lease unicast.</a:t>
            </a:r>
          </a:p>
          <a:p>
            <a:pPr>
              <a:spcBef>
                <a:spcPts val="300"/>
              </a:spcBef>
              <a:defRPr sz="1000">
                <a:solidFill>
                  <a:srgbClr val="FFFFFF"/>
                </a:solidFill>
              </a:defRPr>
            </a:pPr>
            <a:r>
              <a:rPr dirty="0"/>
              <a:t>3. Request: Client formally accepts the offered IP parameters.</a:t>
            </a:r>
          </a:p>
          <a:p>
            <a:pPr>
              <a:spcBef>
                <a:spcPts val="300"/>
              </a:spcBef>
              <a:defRPr sz="1000">
                <a:solidFill>
                  <a:srgbClr val="FFFFFF"/>
                </a:solidFill>
              </a:defRPr>
            </a:pPr>
            <a:r>
              <a:rPr dirty="0"/>
              <a:t>4. Acknowledge: Server registers MAC &amp; confirms parameters.</a:t>
            </a:r>
          </a:p>
          <a:p>
            <a:br>
              <a:rPr dirty="0"/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HOW DHCP CROSSES ROUTERS</a:t>
            </a:r>
            <a:r>
              <a:rPr dirty="0"/>
              <a:t>: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rPr dirty="0"/>
              <a:t>Routers block broadcasts (255.255.255.255). We configured '</a:t>
            </a:r>
            <a:r>
              <a:rPr dirty="0" err="1"/>
              <a:t>ip</a:t>
            </a:r>
            <a:r>
              <a:rPr dirty="0"/>
              <a:t> helper-address' to convert broadcasts to unicast destined for our Central Server.</a:t>
            </a:r>
          </a:p>
          <a:p>
            <a:br>
              <a:rPr dirty="0"/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Router-MGMT(config-if)#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ip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helper-address 192.168.100.2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SELF-HEALING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High-Speed Dynamic Routing: OSPF Area 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outer_network_3d_17886826454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6632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645920"/>
            <a:ext cx="5852160" cy="3511296"/>
          </a:xfrm>
          <a:prstGeom prst="rect">
            <a:avLst/>
          </a:prstGeom>
          <a:noFill/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67832" y="1645920"/>
            <a:ext cx="4602175" cy="4663440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4053535" cy="2803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rPr dirty="0"/>
              <a:t>WHY OSPF BEATS STATIC / RIP</a:t>
            </a:r>
          </a:p>
          <a:p>
            <a:pPr>
              <a:spcBef>
                <a:spcPts val="500"/>
              </a:spcBef>
              <a:defRPr sz="1000">
                <a:solidFill>
                  <a:srgbClr val="FFFFFF"/>
                </a:solidFill>
              </a:defRPr>
            </a:pPr>
            <a:r>
              <a:rPr dirty="0"/>
              <a:t>• Dijkstra SPF Algorithm: Calculates optimal routes based on link bandwidth/cost, not crude hop counts.</a:t>
            </a:r>
          </a:p>
          <a:p>
            <a:pPr>
              <a:spcBef>
                <a:spcPts val="500"/>
              </a:spcBef>
              <a:defRPr sz="1000">
                <a:solidFill>
                  <a:srgbClr val="FFFFFF"/>
                </a:solidFill>
              </a:defRPr>
            </a:pPr>
            <a:r>
              <a:rPr dirty="0"/>
              <a:t>• Area 0 Backbone: Prevents loops and guarantees efficient hierarchical packet transport.</a:t>
            </a:r>
          </a:p>
          <a:p>
            <a:pPr>
              <a:spcBef>
                <a:spcPts val="500"/>
              </a:spcBef>
              <a:defRPr sz="1000">
                <a:solidFill>
                  <a:srgbClr val="FFFFFF"/>
                </a:solidFill>
              </a:defRPr>
            </a:pPr>
            <a:r>
              <a:rPr dirty="0"/>
              <a:t>• Fast Convergence: Re-evaluates paths immediately when a link drops using triggered LSAs.</a:t>
            </a:r>
          </a:p>
          <a:p>
            <a:br>
              <a:rPr dirty="0"/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CISCO IOS CONFIGURATION</a:t>
            </a:r>
            <a:r>
              <a:rPr dirty="0"/>
              <a:t>:</a:t>
            </a:r>
          </a:p>
          <a:p>
            <a:pPr>
              <a:spcBef>
                <a:spcPts val="200"/>
              </a:spcBef>
              <a:defRPr sz="1000">
                <a:solidFill>
                  <a:srgbClr val="38BDF8"/>
                </a:solidFill>
                <a:latin typeface="Consolas"/>
              </a:defRPr>
            </a:pPr>
            <a:r>
              <a:rPr dirty="0"/>
              <a:t>Router(config)# router </a:t>
            </a:r>
            <a:r>
              <a:rPr dirty="0" err="1"/>
              <a:t>ospf</a:t>
            </a:r>
            <a:r>
              <a:rPr dirty="0"/>
              <a:t> 1</a:t>
            </a:r>
          </a:p>
          <a:p>
            <a:pPr>
              <a:spcBef>
                <a:spcPts val="200"/>
              </a:spcBef>
              <a:defRPr sz="1000">
                <a:solidFill>
                  <a:srgbClr val="38BDF8"/>
                </a:solidFill>
                <a:latin typeface="Consolas"/>
              </a:defRPr>
            </a:pPr>
            <a:r>
              <a:rPr dirty="0"/>
              <a:t>Router(config-router)# router-id 1.1.1.1</a:t>
            </a:r>
          </a:p>
          <a:p>
            <a:pPr>
              <a:spcBef>
                <a:spcPts val="200"/>
              </a:spcBef>
              <a:defRPr sz="1000">
                <a:solidFill>
                  <a:srgbClr val="38BDF8"/>
                </a:solidFill>
                <a:latin typeface="Consolas"/>
              </a:defRPr>
            </a:pPr>
            <a:r>
              <a:rPr dirty="0"/>
              <a:t>Router(config-router)# network 192.168.10.0 0.0.0.255 area 0</a:t>
            </a:r>
          </a:p>
          <a:p>
            <a:pPr>
              <a:spcBef>
                <a:spcPts val="200"/>
              </a:spcBef>
              <a:defRPr sz="1000">
                <a:solidFill>
                  <a:srgbClr val="38BDF8"/>
                </a:solidFill>
                <a:latin typeface="Consolas"/>
              </a:defRPr>
            </a:pPr>
            <a:r>
              <a:rPr dirty="0"/>
              <a:t>Router(config-router)# network 10.0.0.0 0.0.0.3 area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NETWORK ADDRESSING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Logical IPv4 Subnetting &amp; Gateway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Zone / Subnet</a:t>
                      </a:r>
                    </a:p>
                  </a:txBody>
                  <a:tcPr>
                    <a:solidFill>
                      <a:srgbClr val="17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Network ID</a:t>
                      </a:r>
                    </a:p>
                  </a:txBody>
                  <a:tcPr>
                    <a:solidFill>
                      <a:srgbClr val="17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Subnet Mask</a:t>
                      </a:r>
                    </a:p>
                  </a:txBody>
                  <a:tcPr>
                    <a:solidFill>
                      <a:srgbClr val="17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Usable Host Range</a:t>
                      </a:r>
                    </a:p>
                  </a:txBody>
                  <a:tcPr>
                    <a:solidFill>
                      <a:srgbClr val="17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Default Gateway</a:t>
                      </a:r>
                    </a:p>
                  </a:txBody>
                  <a:tcPr>
                    <a:solidFill>
                      <a:srgbClr val="17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Management Dept.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192.168.10.0/24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255.255.255.0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192.168.10.2 - 192.168.10.254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192.168.10.1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Office / Admin Dept.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192.168.20.0/24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255.255.255.0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192.168.20.2 - 192.168.20.254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192.168.20.1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Teaching Faculty Dept.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192.168.30.0/24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255.255.255.0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192.168.30.2 - 192.168.30.254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192.168.30.1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Central Server Services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192.168.100.0/24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255.255.255.0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192.168.100.2 - 192.168.100.254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192.168.100.1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Inter-Router WAN Links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10.0.0.0/30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255.255.255.252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Point-to-point / 2 usable IPs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Direct Interfaces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RESULTS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Testing, Validation &amp; Fault Tolerance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42255" cy="2011680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06240" y="1828800"/>
            <a:ext cx="1463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100% LEASED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DHCP Lease Allocation</a:t>
            </a:r>
          </a:p>
          <a:p>
            <a:pPr>
              <a:spcBef>
                <a:spcPts val="300"/>
              </a:spcBef>
              <a:defRPr sz="1100" b="1">
                <a:solidFill>
                  <a:srgbClr val="38BDF8"/>
                </a:solidFill>
              </a:defRPr>
            </a:pPr>
            <a:r>
              <a:t>18/18 PCs Successfully Leased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Every endpoint received correct IP, subnet mask, default gateway, and DNS directly from the central pool with zero conflicts.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42255" cy="2011680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92640" y="1828800"/>
            <a:ext cx="1463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100% SUCCESS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Intra-Department Switching</a:t>
            </a:r>
          </a:p>
          <a:p>
            <a:pPr>
              <a:spcBef>
                <a:spcPts val="300"/>
              </a:spcBef>
              <a:defRPr sz="1100" b="1">
                <a:solidFill>
                  <a:srgbClr val="38BDF8"/>
                </a:solidFill>
              </a:defRPr>
            </a:pPr>
            <a:r>
              <a:t>&lt; 1 ms Local Response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Full wire-speed switching within departmental LANs. Zero packet loss on ping across all 6 local computers.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42255" cy="2011680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06240" y="4114800"/>
            <a:ext cx="1463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0% PACKET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Inter-Department OSPF Ping</a:t>
            </a:r>
          </a:p>
          <a:p>
            <a:pPr>
              <a:spcBef>
                <a:spcPts val="300"/>
              </a:spcBef>
              <a:defRPr sz="1100" b="1">
                <a:solidFill>
                  <a:srgbClr val="38BDF8"/>
                </a:solidFill>
              </a:defRPr>
            </a:pPr>
            <a:r>
              <a:t>Full Mesh Reachability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Pings from Management PC0 to Faculty PC12 and Office PC6 yielded 0% loss across all router hops.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242255" cy="2011680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92640" y="4114800"/>
            <a:ext cx="1463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SELF-HEALED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148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Live Link Cut Failover Test</a:t>
            </a:r>
          </a:p>
          <a:p>
            <a:pPr>
              <a:spcBef>
                <a:spcPts val="300"/>
              </a:spcBef>
              <a:defRPr sz="1100" b="1">
                <a:solidFill>
                  <a:srgbClr val="38BDF8"/>
                </a:solidFill>
              </a:defRPr>
            </a:pPr>
            <a:r>
              <a:t>Autonomous Route Recovery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Simulated severed cable between Router 1 &amp; Router 2. OSPF dynamically re-converged and redirected packets via Router 3 without drop.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Thank You!</a:t>
            </a:r>
          </a:p>
          <a:p>
            <a:pPr algn="ctr">
              <a:spcBef>
                <a:spcPts val="2000"/>
              </a:spcBef>
              <a:defRPr sz="1300">
                <a:solidFill>
                  <a:srgbClr val="94A3B8"/>
                </a:solidFill>
              </a:defRPr>
            </a:pPr>
            <a:r>
              <a:rPr dirty="0"/>
              <a:t>Ready to inspect: </a:t>
            </a:r>
            <a:r>
              <a:rPr dirty="0" err="1"/>
              <a:t>project.pkt</a:t>
            </a:r>
            <a:r>
              <a:rPr dirty="0"/>
              <a:t> (Live Topology) | demo.mp4 (Walkthrough Video)</a:t>
            </a:r>
            <a:br>
              <a:rPr dirty="0"/>
            </a:br>
            <a:r>
              <a:rPr dirty="0"/>
              <a:t>GitHub: github.com/halderarnab827/COLLEGE-CAMPUS-LAN-NETWORK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709</Words>
  <Application>Microsoft Office PowerPoint</Application>
  <PresentationFormat>Widescreen</PresentationFormat>
  <Paragraphs>113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ARNAB HALDER</cp:lastModifiedBy>
  <cp:revision>1</cp:revision>
  <dcterms:created xsi:type="dcterms:W3CDTF">2013-01-27T09:14:16Z</dcterms:created>
  <dcterms:modified xsi:type="dcterms:W3CDTF">2026-09-10T11:30:41Z</dcterms:modified>
  <cp:category/>
</cp:coreProperties>
</file>